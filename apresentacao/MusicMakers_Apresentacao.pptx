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02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3D62F8-3896-FEC3-6B99-765E9984A1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E5648A-447E-D398-BE79-B8A0FE292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4E060D5-DD62-5D52-E765-602C83D2F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62530-4478-482E-963A-D6BE3E5DBD48}" type="datetimeFigureOut">
              <a:rPr lang="pt-BR" smtClean="0"/>
              <a:t>04/07/2026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2613EB-2E70-6452-D67B-5D9CEDB29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901E9B-24F0-005F-6506-9C1E5708E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C0B20-0D09-4507-8867-436899AD81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1889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483388-1859-DFB5-4FD4-F4A99DF46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E6FD17-7004-89B3-3DAE-99CA8A172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66C8B5E-0792-2AA1-6B5B-BB417520C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62530-4478-482E-963A-D6BE3E5DBD48}" type="datetimeFigureOut">
              <a:rPr lang="pt-BR" smtClean="0"/>
              <a:t>04/07/2026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896A72-1857-9056-42CA-B47428CAD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854794-A763-0648-E908-3FFB3EDB3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C0B20-0D09-4507-8867-436899AD81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7101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BA146F-9B58-7745-5232-08646E958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E446829-ADFD-0CD5-620C-07058E117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B0E8BDC-A312-44F9-0372-6F897EB8F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62530-4478-482E-963A-D6BE3E5DBD48}" type="datetimeFigureOut">
              <a:rPr lang="pt-BR" smtClean="0"/>
              <a:t>04/07/2026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9ACA18-AEDA-E90F-CB14-470B69D18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68A2C7-153A-5D1A-B020-49D93EAA8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C0B20-0D09-4507-8867-436899AD81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9332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817BF1-A46F-652E-0C8F-AC40FC92A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69D6F4-59C0-993A-6CC4-3B95B997F9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59DAAC1-FA55-689D-1693-92DF33C062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F891838-AFF7-A14D-81D4-9CFF30204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62530-4478-482E-963A-D6BE3E5DBD48}" type="datetimeFigureOut">
              <a:rPr lang="pt-BR" smtClean="0"/>
              <a:t>04/07/2026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7A7C0DF-462C-73BF-99E9-B67E23F89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3B636F-0A94-B4BE-F0F2-21F0897C0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C0B20-0D09-4507-8867-436899AD81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2572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471DBF-E6A2-6F2B-1E1F-4EFEE2D8A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6E98C61-2F19-4FE8-110B-5614D6173A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572844C-8C0F-E316-6D37-A1D516E4C3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166246A-D460-B9BB-FC06-30F6A436B4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6ABA398-E54A-4E5B-6759-06ED4F9C68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B0233A8-6511-747E-4E9B-9E8442ADD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62530-4478-482E-963A-D6BE3E5DBD48}" type="datetimeFigureOut">
              <a:rPr lang="pt-BR" smtClean="0"/>
              <a:t>04/07/2026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E69EAC3-63D7-C200-49C8-2DDB1A812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743FC25-FDA8-858F-8619-2183F956D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C0B20-0D09-4507-8867-436899AD81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083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8EC46F-86C3-F289-48AD-F98FA7CD3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47000FA-DEED-0856-2860-A0E1CF9C8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62530-4478-482E-963A-D6BE3E5DBD48}" type="datetimeFigureOut">
              <a:rPr lang="pt-BR" smtClean="0"/>
              <a:t>04/07/2026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71395E9-66D0-4CAC-3818-1B3F9EBEA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B1F14B1-2999-CB2E-2018-8A95E4881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C0B20-0D09-4507-8867-436899AD81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5273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186DE77-DF41-C64D-01C4-9303CAE97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62530-4478-482E-963A-D6BE3E5DBD48}" type="datetimeFigureOut">
              <a:rPr lang="pt-BR" smtClean="0"/>
              <a:t>04/07/2026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4CE5814-0368-DD41-5F10-966D84D24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B52BCAA-899E-46F3-94F3-247F45792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C0B20-0D09-4507-8867-436899AD81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2255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8F6FB7-D8D7-77B5-8D20-BCB15D9A9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C384B0-81E5-28E6-5FB5-90455675B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5921696-EE82-0948-0D30-1551CFBF5C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937EDAD-C6FA-90AF-B112-25438FC18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62530-4478-482E-963A-D6BE3E5DBD48}" type="datetimeFigureOut">
              <a:rPr lang="pt-BR" smtClean="0"/>
              <a:t>04/07/2026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CF64623-20BD-9184-B7B1-8033CB952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FFB5E61-D406-4B67-F91F-1FF9534D2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C0B20-0D09-4507-8867-436899AD81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3911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10A2CC-2838-15F7-47D2-A6C2846DB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0CDC490-F905-24FD-D361-4AEAAAD795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EC57322-C952-185B-C70B-8A06013088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4952D3-9010-CBE4-63A0-07ADC3924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62530-4478-482E-963A-D6BE3E5DBD48}" type="datetimeFigureOut">
              <a:rPr lang="pt-BR" smtClean="0"/>
              <a:t>04/07/2026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F35A4AA-DB5B-1B8C-C862-430E089E2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301B705-45BE-E611-61A1-2F7CBDDB8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C0B20-0D09-4507-8867-436899AD81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8286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86F8BB-0364-AE71-10BA-6A84CDC24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756FC39-2383-078E-496E-3B0A9BBED0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209426-D2C9-9FC6-BF89-0AB992EA9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62530-4478-482E-963A-D6BE3E5DBD48}" type="datetimeFigureOut">
              <a:rPr lang="pt-BR" smtClean="0"/>
              <a:t>04/07/2026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FB1AD67-1861-4918-D431-C8E476F6F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B20F63-0504-F7CC-794B-7161FDA3B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C0B20-0D09-4507-8867-436899AD81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1115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DB277EA-3E14-FBC3-A7AD-1EA36F6190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B47B566-B2A3-D18B-6443-E2ADAC3B4D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4A20B8-C562-7C79-FA3B-A41B775EC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62530-4478-482E-963A-D6BE3E5DBD48}" type="datetimeFigureOut">
              <a:rPr lang="pt-BR" smtClean="0"/>
              <a:t>04/07/2026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04337E-E2B5-474E-3DF6-5DBD75A80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595C68-26E5-4325-7CE3-A2B89E710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C0B20-0D09-4507-8867-436899AD81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378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3FBEE09-223B-67BD-1338-B6603E231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543CF30-084F-7387-8BAC-2F37C82808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8A8B65-ABA1-CFC2-1864-EEC1B265A3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862530-4478-482E-963A-D6BE3E5DBD48}" type="datetimeFigureOut">
              <a:rPr lang="pt-BR" smtClean="0"/>
              <a:t>04/07/2026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0ED49D7-2881-6B97-EE9F-23EF984784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F700CDA-D76E-CB8D-E59D-76CB8BF6D7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DC0B20-0D09-4507-8867-436899AD81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4100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E7E525A-80A2-ADEA-094A-3F64BE1E44F6}"/>
              </a:ext>
            </a:extLst>
          </p:cNvPr>
          <p:cNvSpPr/>
          <p:nvPr/>
        </p:nvSpPr>
        <p:spPr>
          <a:xfrm>
            <a:off x="0" y="3390900"/>
            <a:ext cx="12192000" cy="76200"/>
          </a:xfrm>
          <a:prstGeom prst="rect">
            <a:avLst/>
          </a:prstGeom>
          <a:solidFill>
            <a:srgbClr val="FA98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B7CB85C-7225-CC61-F490-4F45FA1876C6}"/>
              </a:ext>
            </a:extLst>
          </p:cNvPr>
          <p:cNvSpPr txBox="1"/>
          <p:nvPr/>
        </p:nvSpPr>
        <p:spPr>
          <a:xfrm>
            <a:off x="0" y="1905000"/>
            <a:ext cx="12192000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BR" sz="6000" b="1">
                <a:solidFill>
                  <a:srgbClr val="FFFFFF"/>
                </a:solidFill>
                <a:latin typeface="Segoe UI" panose="020B0502040204020203" pitchFamily="34" charset="0"/>
              </a:rPr>
              <a:t>MusicMakers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85037FD-9171-6A67-E498-E282C3C4761F}"/>
              </a:ext>
            </a:extLst>
          </p:cNvPr>
          <p:cNvSpPr txBox="1"/>
          <p:nvPr/>
        </p:nvSpPr>
        <p:spPr>
          <a:xfrm>
            <a:off x="0" y="3175000"/>
            <a:ext cx="12192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BR" sz="2000">
                <a:solidFill>
                  <a:srgbClr val="C7C7D1"/>
                </a:solidFill>
                <a:latin typeface="Segoe UI" panose="020B0502040204020203" pitchFamily="34" charset="0"/>
              </a:rPr>
              <a:t>Uma plataforma para conectar musicos e bandas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2E3FEB0-3E63-5F24-0475-B6B4D3A6D264}"/>
              </a:ext>
            </a:extLst>
          </p:cNvPr>
          <p:cNvSpPr txBox="1"/>
          <p:nvPr/>
        </p:nvSpPr>
        <p:spPr>
          <a:xfrm>
            <a:off x="0" y="4191000"/>
            <a:ext cx="12192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BR" sz="1600" b="1">
                <a:solidFill>
                  <a:srgbClr val="FA9848"/>
                </a:solidFill>
                <a:latin typeface="Segoe UI" panose="020B0502040204020203" pitchFamily="34" charset="0"/>
              </a:rPr>
              <a:t>Disciplina: Topicos Avancados - Tecnico em Informatica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9C79872-3D8E-1AA4-A65D-559053A54C65}"/>
              </a:ext>
            </a:extLst>
          </p:cNvPr>
          <p:cNvSpPr txBox="1"/>
          <p:nvPr/>
        </p:nvSpPr>
        <p:spPr>
          <a:xfrm>
            <a:off x="0" y="4826000"/>
            <a:ext cx="1219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BR" sz="1400">
                <a:solidFill>
                  <a:srgbClr val="C7C7D1"/>
                </a:solidFill>
                <a:latin typeface="Segoe UI" panose="020B0502040204020203" pitchFamily="34" charset="0"/>
              </a:rPr>
              <a:t>Integrantes: Vicente Brenner, Jean Carlo, Murilo Silva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C8CE9C4-970B-C6AB-4F02-0400F990C47C}"/>
              </a:ext>
            </a:extLst>
          </p:cNvPr>
          <p:cNvSpPr txBox="1"/>
          <p:nvPr/>
        </p:nvSpPr>
        <p:spPr>
          <a:xfrm>
            <a:off x="0" y="5207000"/>
            <a:ext cx="1219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BR" sz="1400">
                <a:solidFill>
                  <a:srgbClr val="C7C7D1"/>
                </a:solidFill>
                <a:latin typeface="Segoe UI" panose="020B0502040204020203" pitchFamily="34" charset="0"/>
              </a:rPr>
              <a:t>Professor orientador: Isaias</a:t>
            </a:r>
          </a:p>
        </p:txBody>
      </p:sp>
    </p:spTree>
    <p:extLst>
      <p:ext uri="{BB962C8B-B14F-4D97-AF65-F5344CB8AC3E}">
        <p14:creationId xmlns:p14="http://schemas.microsoft.com/office/powerpoint/2010/main" val="2314662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409F40B-036B-C18F-93C8-8D2D36C6429C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FA98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A6AB310-9E9C-02B4-A1E9-90BCAA2C45E3}"/>
              </a:ext>
            </a:extLst>
          </p:cNvPr>
          <p:cNvSpPr txBox="1"/>
          <p:nvPr/>
        </p:nvSpPr>
        <p:spPr>
          <a:xfrm>
            <a:off x="762000" y="381000"/>
            <a:ext cx="9906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BR" sz="3200" b="1">
                <a:solidFill>
                  <a:srgbClr val="FFFFFF"/>
                </a:solidFill>
                <a:latin typeface="Segoe UI" panose="020B0502040204020203" pitchFamily="34" charset="0"/>
              </a:rPr>
              <a:t>Agenda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963F409-9750-8D30-0B27-9864546285B7}"/>
              </a:ext>
            </a:extLst>
          </p:cNvPr>
          <p:cNvSpPr txBox="1"/>
          <p:nvPr/>
        </p:nvSpPr>
        <p:spPr>
          <a:xfrm>
            <a:off x="10414000" y="6350000"/>
            <a:ext cx="127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pt-BR" sz="1200">
                <a:solidFill>
                  <a:srgbClr val="8A8A96"/>
                </a:solidFill>
                <a:latin typeface="Segoe UI" panose="020B0502040204020203" pitchFamily="34" charset="0"/>
              </a:rPr>
              <a:t>2 / 15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94F845C-0333-048B-3840-0932257FBEB2}"/>
              </a:ext>
            </a:extLst>
          </p:cNvPr>
          <p:cNvSpPr txBox="1"/>
          <p:nvPr/>
        </p:nvSpPr>
        <p:spPr>
          <a:xfrm>
            <a:off x="762000" y="6350000"/>
            <a:ext cx="254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BR" sz="1200">
                <a:solidFill>
                  <a:srgbClr val="8A8A96"/>
                </a:solidFill>
                <a:latin typeface="Segoe UI" panose="020B0502040204020203" pitchFamily="34" charset="0"/>
              </a:rPr>
              <a:t>MusicMakers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3820040-4ADE-EBBE-8D6D-54BA9EA7A9F7}"/>
              </a:ext>
            </a:extLst>
          </p:cNvPr>
          <p:cNvSpPr txBox="1"/>
          <p:nvPr/>
        </p:nvSpPr>
        <p:spPr>
          <a:xfrm>
            <a:off x="762000" y="1651000"/>
            <a:ext cx="9906000" cy="356507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O problema e a motivacao</a:t>
            </a:r>
          </a:p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Objetivo do projeto</a:t>
            </a:r>
          </a:p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Visao geral da solucao</a:t>
            </a:r>
          </a:p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Funcionalidades principais</a:t>
            </a:r>
          </a:p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Arquitetura e stack tecnologica</a:t>
            </a:r>
          </a:p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Seguranca implementada</a:t>
            </a:r>
          </a:p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Desafios enfrentados e solucoes</a:t>
            </a:r>
          </a:p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Resultados e trabalhos futuros</a:t>
            </a:r>
          </a:p>
        </p:txBody>
      </p:sp>
    </p:spTree>
    <p:extLst>
      <p:ext uri="{BB962C8B-B14F-4D97-AF65-F5344CB8AC3E}">
        <p14:creationId xmlns:p14="http://schemas.microsoft.com/office/powerpoint/2010/main" val="671790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AB8056A-722B-44C7-0010-F3FD74BF446A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FA98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8ABFE23-616D-DA9B-C77F-56E8C0E897E6}"/>
              </a:ext>
            </a:extLst>
          </p:cNvPr>
          <p:cNvSpPr txBox="1"/>
          <p:nvPr/>
        </p:nvSpPr>
        <p:spPr>
          <a:xfrm>
            <a:off x="762000" y="381000"/>
            <a:ext cx="9906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BR" sz="3200" b="1">
                <a:solidFill>
                  <a:srgbClr val="FFFFFF"/>
                </a:solidFill>
                <a:latin typeface="Segoe UI" panose="020B0502040204020203" pitchFamily="34" charset="0"/>
              </a:rPr>
              <a:t>O Problema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F8EED36-4F6F-F058-1015-E2BF7C561A2F}"/>
              </a:ext>
            </a:extLst>
          </p:cNvPr>
          <p:cNvSpPr txBox="1"/>
          <p:nvPr/>
        </p:nvSpPr>
        <p:spPr>
          <a:xfrm>
            <a:off x="10414000" y="6350000"/>
            <a:ext cx="127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pt-BR" sz="1200">
                <a:solidFill>
                  <a:srgbClr val="8A8A96"/>
                </a:solidFill>
                <a:latin typeface="Segoe UI" panose="020B0502040204020203" pitchFamily="34" charset="0"/>
              </a:rPr>
              <a:t>3 / 15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5BEAC91-8088-3C16-FE47-466412655640}"/>
              </a:ext>
            </a:extLst>
          </p:cNvPr>
          <p:cNvSpPr txBox="1"/>
          <p:nvPr/>
        </p:nvSpPr>
        <p:spPr>
          <a:xfrm>
            <a:off x="762000" y="6350000"/>
            <a:ext cx="254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BR" sz="1200">
                <a:solidFill>
                  <a:srgbClr val="8A8A96"/>
                </a:solidFill>
                <a:latin typeface="Segoe UI" panose="020B0502040204020203" pitchFamily="34" charset="0"/>
              </a:rPr>
              <a:t>MusicMakers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F13C192-A607-C2A9-473B-3945E0E66EE6}"/>
              </a:ext>
            </a:extLst>
          </p:cNvPr>
          <p:cNvSpPr txBox="1"/>
          <p:nvPr/>
        </p:nvSpPr>
        <p:spPr>
          <a:xfrm>
            <a:off x="762000" y="1651000"/>
            <a:ext cx="9906000" cy="284693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Musicos independentes tem dificuldade de encontrar bandas compativeis com seu instrumento, nivel e disponibilidade</a:t>
            </a:r>
          </a:p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Bandas ja formadas nao tem uma ferramenta unica para organizar agenda, financas e repertorio</a:t>
            </a:r>
          </a:p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A comunicacao para convites, candidaturas e vagas costuma ser informal (grupos de WhatsApp, redes sociais), sem controle ou historico</a:t>
            </a:r>
          </a:p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Faltava uma plataforma que unisse: descoberta de oportunidades + gestao do dia a dia de uma banda</a:t>
            </a:r>
          </a:p>
        </p:txBody>
      </p:sp>
    </p:spTree>
    <p:extLst>
      <p:ext uri="{BB962C8B-B14F-4D97-AF65-F5344CB8AC3E}">
        <p14:creationId xmlns:p14="http://schemas.microsoft.com/office/powerpoint/2010/main" val="2699620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0683472-527A-8DB8-F525-B02ABD033E92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FA98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C1F2D4F-78D8-0F98-7F1B-E764D5AE6161}"/>
              </a:ext>
            </a:extLst>
          </p:cNvPr>
          <p:cNvSpPr txBox="1"/>
          <p:nvPr/>
        </p:nvSpPr>
        <p:spPr>
          <a:xfrm>
            <a:off x="762000" y="381000"/>
            <a:ext cx="9906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BR" sz="3200" b="1">
                <a:solidFill>
                  <a:srgbClr val="FFFFFF"/>
                </a:solidFill>
                <a:latin typeface="Segoe UI" panose="020B0502040204020203" pitchFamily="34" charset="0"/>
              </a:rPr>
              <a:t>Objetivo do Projeto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48640CF-B805-C65C-462B-FE149A1FEFC9}"/>
              </a:ext>
            </a:extLst>
          </p:cNvPr>
          <p:cNvSpPr txBox="1"/>
          <p:nvPr/>
        </p:nvSpPr>
        <p:spPr>
          <a:xfrm>
            <a:off x="10414000" y="6350000"/>
            <a:ext cx="127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pt-BR" sz="1200">
                <a:solidFill>
                  <a:srgbClr val="8A8A96"/>
                </a:solidFill>
                <a:latin typeface="Segoe UI" panose="020B0502040204020203" pitchFamily="34" charset="0"/>
              </a:rPr>
              <a:t>4 / 15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051611A-22CA-DB1C-446F-822F000ABE05}"/>
              </a:ext>
            </a:extLst>
          </p:cNvPr>
          <p:cNvSpPr txBox="1"/>
          <p:nvPr/>
        </p:nvSpPr>
        <p:spPr>
          <a:xfrm>
            <a:off x="762000" y="6350000"/>
            <a:ext cx="254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BR" sz="1200">
                <a:solidFill>
                  <a:srgbClr val="8A8A96"/>
                </a:solidFill>
                <a:latin typeface="Segoe UI" panose="020B0502040204020203" pitchFamily="34" charset="0"/>
              </a:rPr>
              <a:t>MusicMakers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FD55329-2DF3-7714-36E7-B9B07EE79428}"/>
              </a:ext>
            </a:extLst>
          </p:cNvPr>
          <p:cNvSpPr txBox="1"/>
          <p:nvPr/>
        </p:nvSpPr>
        <p:spPr>
          <a:xfrm>
            <a:off x="762000" y="1651000"/>
            <a:ext cx="9906000" cy="256993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Desenvolver uma plataforma web full-stack que conecte musicos e bandas</a:t>
            </a:r>
          </a:p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Permitir que musicos criem um perfil profissional (instrumentos, portfolio, disponibilidade) e busquem vagas</a:t>
            </a:r>
          </a:p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Permitir que gestores administrem sua banda: membros, agenda, financas, repertorio e vagas abertas</a:t>
            </a:r>
          </a:p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Aplicar praticas reais de engenharia de software: autenticacao segura, autorizacao por papel, persistencia em banco relacional e deploy em nuvem</a:t>
            </a:r>
          </a:p>
        </p:txBody>
      </p:sp>
    </p:spTree>
    <p:extLst>
      <p:ext uri="{BB962C8B-B14F-4D97-AF65-F5344CB8AC3E}">
        <p14:creationId xmlns:p14="http://schemas.microsoft.com/office/powerpoint/2010/main" val="4288338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A757B4F-2B26-6202-782B-978891BE4F87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FA98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C19FD53-B0AD-EFEC-12C0-80D53BE033B5}"/>
              </a:ext>
            </a:extLst>
          </p:cNvPr>
          <p:cNvSpPr txBox="1"/>
          <p:nvPr/>
        </p:nvSpPr>
        <p:spPr>
          <a:xfrm>
            <a:off x="762000" y="381000"/>
            <a:ext cx="9906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BR" sz="3200" b="1">
                <a:solidFill>
                  <a:srgbClr val="FFFFFF"/>
                </a:solidFill>
                <a:latin typeface="Segoe UI" panose="020B0502040204020203" pitchFamily="34" charset="0"/>
              </a:rPr>
              <a:t>Visao Geral da Solucao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6321937-6455-4F5C-DB37-215A3DA11E08}"/>
              </a:ext>
            </a:extLst>
          </p:cNvPr>
          <p:cNvSpPr txBox="1"/>
          <p:nvPr/>
        </p:nvSpPr>
        <p:spPr>
          <a:xfrm>
            <a:off x="10414000" y="6350000"/>
            <a:ext cx="127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pt-BR" sz="1200">
                <a:solidFill>
                  <a:srgbClr val="8A8A96"/>
                </a:solidFill>
                <a:latin typeface="Segoe UI" panose="020B0502040204020203" pitchFamily="34" charset="0"/>
              </a:rPr>
              <a:t>5 / 15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A973F66-FA16-A0B7-D4E3-8BA5D5E86213}"/>
              </a:ext>
            </a:extLst>
          </p:cNvPr>
          <p:cNvSpPr txBox="1"/>
          <p:nvPr/>
        </p:nvSpPr>
        <p:spPr>
          <a:xfrm>
            <a:off x="762000" y="6350000"/>
            <a:ext cx="254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BR" sz="1200">
                <a:solidFill>
                  <a:srgbClr val="8A8A96"/>
                </a:solidFill>
                <a:latin typeface="Segoe UI" panose="020B0502040204020203" pitchFamily="34" charset="0"/>
              </a:rPr>
              <a:t>MusicMakers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676EA51-F328-2101-D46C-25816EF06619}"/>
              </a:ext>
            </a:extLst>
          </p:cNvPr>
          <p:cNvSpPr txBox="1"/>
          <p:nvPr/>
        </p:nvSpPr>
        <p:spPr>
          <a:xfrm>
            <a:off x="762000" y="1651000"/>
            <a:ext cx="9906000" cy="247247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Aplicacao web acessada pelo navegador, sem necessidade de instalacao</a:t>
            </a:r>
          </a:p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Dois perfis de usuario: Musico e Gestor de banda, cada um com seu proprio fluxo</a:t>
            </a:r>
          </a:p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Cadastro e login com e-mail/senha ou Google, e recuperacao de senha por e-mail</a:t>
            </a:r>
          </a:p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Painel da banda centraliza agenda de shows/ensaios, controle financeiro, repertorio e gestao de membros</a:t>
            </a:r>
          </a:p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Mural de vagas conecta musicos disponiveis a bandas que estao contratando</a:t>
            </a:r>
          </a:p>
        </p:txBody>
      </p:sp>
    </p:spTree>
    <p:extLst>
      <p:ext uri="{BB962C8B-B14F-4D97-AF65-F5344CB8AC3E}">
        <p14:creationId xmlns:p14="http://schemas.microsoft.com/office/powerpoint/2010/main" val="336348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A274C2D-DE0F-6209-AAE6-5A9AA8050417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FA98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97D85E9-43EE-A142-9C50-8F4D0BD7D90F}"/>
              </a:ext>
            </a:extLst>
          </p:cNvPr>
          <p:cNvSpPr txBox="1"/>
          <p:nvPr/>
        </p:nvSpPr>
        <p:spPr>
          <a:xfrm>
            <a:off x="762000" y="381000"/>
            <a:ext cx="9906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BR" sz="3200" b="1">
                <a:solidFill>
                  <a:srgbClr val="FFFFFF"/>
                </a:solidFill>
                <a:latin typeface="Segoe UI" panose="020B0502040204020203" pitchFamily="34" charset="0"/>
              </a:rPr>
              <a:t>Funcionalidades - Perfil do Musico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E97E7B6-3BF1-67FF-7D80-EA1AC6A3DF5D}"/>
              </a:ext>
            </a:extLst>
          </p:cNvPr>
          <p:cNvSpPr txBox="1"/>
          <p:nvPr/>
        </p:nvSpPr>
        <p:spPr>
          <a:xfrm>
            <a:off x="10414000" y="6350000"/>
            <a:ext cx="127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pt-BR" sz="1200">
                <a:solidFill>
                  <a:srgbClr val="8A8A96"/>
                </a:solidFill>
                <a:latin typeface="Segoe UI" panose="020B0502040204020203" pitchFamily="34" charset="0"/>
              </a:rPr>
              <a:t>6 / 15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2A73B04-8E7B-1556-188D-4E4597CE140D}"/>
              </a:ext>
            </a:extLst>
          </p:cNvPr>
          <p:cNvSpPr txBox="1"/>
          <p:nvPr/>
        </p:nvSpPr>
        <p:spPr>
          <a:xfrm>
            <a:off x="762000" y="6350000"/>
            <a:ext cx="254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BR" sz="1200">
                <a:solidFill>
                  <a:srgbClr val="8A8A96"/>
                </a:solidFill>
                <a:latin typeface="Segoe UI" panose="020B0502040204020203" pitchFamily="34" charset="0"/>
              </a:rPr>
              <a:t>MusicMakers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7EDA9EA-F789-4A8D-4338-D38CA6FF8F33}"/>
              </a:ext>
            </a:extLst>
          </p:cNvPr>
          <p:cNvSpPr txBox="1"/>
          <p:nvPr/>
        </p:nvSpPr>
        <p:spPr>
          <a:xfrm>
            <a:off x="762000" y="1651000"/>
            <a:ext cx="9906000" cy="219547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Perfil completo: dados pessoais, localizacao, instrumentos e nivel de experiencia</a:t>
            </a:r>
          </a:p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Portfolio de videos para divulgar seu trabalho</a:t>
            </a:r>
          </a:p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Mural de vagas abertas com filtro por instrumento, cidade e nivel</a:t>
            </a:r>
          </a:p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Candidatura a vagas com acompanhamento de status (pendente, aprovado, rejeitado)</a:t>
            </a:r>
          </a:p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Recebimento e resposta a convites de bandas (aceitar/recusar)</a:t>
            </a:r>
          </a:p>
        </p:txBody>
      </p:sp>
    </p:spTree>
    <p:extLst>
      <p:ext uri="{BB962C8B-B14F-4D97-AF65-F5344CB8AC3E}">
        <p14:creationId xmlns:p14="http://schemas.microsoft.com/office/powerpoint/2010/main" val="342162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C1C7D05-007C-21A0-0A47-008D42C9804E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FA98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D4B5067-A3E3-E3A4-C62C-68824D7DAC4E}"/>
              </a:ext>
            </a:extLst>
          </p:cNvPr>
          <p:cNvSpPr txBox="1"/>
          <p:nvPr/>
        </p:nvSpPr>
        <p:spPr>
          <a:xfrm>
            <a:off x="762000" y="381000"/>
            <a:ext cx="9906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BR" sz="3200" b="1">
                <a:solidFill>
                  <a:srgbClr val="FFFFFF"/>
                </a:solidFill>
                <a:latin typeface="Segoe UI" panose="020B0502040204020203" pitchFamily="34" charset="0"/>
              </a:rPr>
              <a:t>Funcionalidades - Painel da Banda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D5FAC00-1915-D1F0-9BFB-F4E33CAB3958}"/>
              </a:ext>
            </a:extLst>
          </p:cNvPr>
          <p:cNvSpPr txBox="1"/>
          <p:nvPr/>
        </p:nvSpPr>
        <p:spPr>
          <a:xfrm>
            <a:off x="10414000" y="6350000"/>
            <a:ext cx="127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pt-BR" sz="1200">
                <a:solidFill>
                  <a:srgbClr val="8A8A96"/>
                </a:solidFill>
                <a:latin typeface="Segoe UI" panose="020B0502040204020203" pitchFamily="34" charset="0"/>
              </a:rPr>
              <a:t>7 / 15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474B2F6-E169-B49C-AFD9-D96E6C00E98B}"/>
              </a:ext>
            </a:extLst>
          </p:cNvPr>
          <p:cNvSpPr txBox="1"/>
          <p:nvPr/>
        </p:nvSpPr>
        <p:spPr>
          <a:xfrm>
            <a:off x="762000" y="6350000"/>
            <a:ext cx="254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BR" sz="1200">
                <a:solidFill>
                  <a:srgbClr val="8A8A96"/>
                </a:solidFill>
                <a:latin typeface="Segoe UI" panose="020B0502040204020203" pitchFamily="34" charset="0"/>
              </a:rPr>
              <a:t>MusicMakers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5894A99-CFE4-1F3D-7883-4D89FDAE5217}"/>
              </a:ext>
            </a:extLst>
          </p:cNvPr>
          <p:cNvSpPr txBox="1"/>
          <p:nvPr/>
        </p:nvSpPr>
        <p:spPr>
          <a:xfrm>
            <a:off x="762000" y="1651000"/>
            <a:ext cx="9906000" cy="219547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Gestao de membros: convites, permissoes por modulo e remocao</a:t>
            </a:r>
          </a:p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Agenda de shows e ensaios em formato de calendario</a:t>
            </a:r>
          </a:p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Controle financeiro: receitas, despesas e saldo por categoria</a:t>
            </a:r>
          </a:p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Repertorio: cadastro de musicas e partituras (PDF)</a:t>
            </a:r>
          </a:p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Publicacao de vagas e avaliacao de candidatos compativeis</a:t>
            </a:r>
          </a:p>
        </p:txBody>
      </p:sp>
    </p:spTree>
    <p:extLst>
      <p:ext uri="{BB962C8B-B14F-4D97-AF65-F5344CB8AC3E}">
        <p14:creationId xmlns:p14="http://schemas.microsoft.com/office/powerpoint/2010/main" val="764269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44FBF19-3164-A2AC-6730-40F3A880B54C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FA98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CAB3027-0671-DDE5-AB49-49D75D7C6B1D}"/>
              </a:ext>
            </a:extLst>
          </p:cNvPr>
          <p:cNvSpPr txBox="1"/>
          <p:nvPr/>
        </p:nvSpPr>
        <p:spPr>
          <a:xfrm>
            <a:off x="762000" y="381000"/>
            <a:ext cx="9906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BR" sz="3200" b="1">
                <a:solidFill>
                  <a:srgbClr val="FFFFFF"/>
                </a:solidFill>
                <a:latin typeface="Segoe UI" panose="020B0502040204020203" pitchFamily="34" charset="0"/>
              </a:rPr>
              <a:t>Arquitetura da Aplicacao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01B96D5-D418-FEA2-3854-D24623BE4AE3}"/>
              </a:ext>
            </a:extLst>
          </p:cNvPr>
          <p:cNvSpPr txBox="1"/>
          <p:nvPr/>
        </p:nvSpPr>
        <p:spPr>
          <a:xfrm>
            <a:off x="10414000" y="6350000"/>
            <a:ext cx="127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pt-BR" sz="1200">
                <a:solidFill>
                  <a:srgbClr val="8A8A96"/>
                </a:solidFill>
                <a:latin typeface="Segoe UI" panose="020B0502040204020203" pitchFamily="34" charset="0"/>
              </a:rPr>
              <a:t>8 / 15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974466-1D81-B376-9EBA-19DF9BD5BCB7}"/>
              </a:ext>
            </a:extLst>
          </p:cNvPr>
          <p:cNvSpPr txBox="1"/>
          <p:nvPr/>
        </p:nvSpPr>
        <p:spPr>
          <a:xfrm>
            <a:off x="762000" y="6350000"/>
            <a:ext cx="254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BR" sz="1200">
                <a:solidFill>
                  <a:srgbClr val="8A8A96"/>
                </a:solidFill>
                <a:latin typeface="Segoe UI" panose="020B0502040204020203" pitchFamily="34" charset="0"/>
              </a:rPr>
              <a:t>MusicMakers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90811315-CF81-6CA7-AEDF-69B21E1C014C}"/>
              </a:ext>
            </a:extLst>
          </p:cNvPr>
          <p:cNvSpPr/>
          <p:nvPr/>
        </p:nvSpPr>
        <p:spPr>
          <a:xfrm>
            <a:off x="762000" y="2540000"/>
            <a:ext cx="2413000" cy="889000"/>
          </a:xfrm>
          <a:prstGeom prst="roundRect">
            <a:avLst/>
          </a:prstGeom>
          <a:solidFill>
            <a:srgbClr val="12121A"/>
          </a:solidFill>
          <a:ln w="19050">
            <a:solidFill>
              <a:srgbClr val="FA9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300" b="1">
                <a:solidFill>
                  <a:srgbClr val="FFFFFF"/>
                </a:solidFill>
                <a:latin typeface="Segoe UI" panose="020B0502040204020203" pitchFamily="34" charset="0"/>
              </a:rPr>
              <a:t>Frontend</a:t>
            </a:r>
          </a:p>
          <a:p>
            <a:pPr algn="ctr"/>
            <a:r>
              <a:rPr lang="pt-BR" sz="1300" b="1">
                <a:solidFill>
                  <a:srgbClr val="FFFFFF"/>
                </a:solidFill>
                <a:latin typeface="Segoe UI" panose="020B0502040204020203" pitchFamily="34" charset="0"/>
              </a:rPr>
              <a:t>HTML / CSS / JS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2B73109-1009-06C0-0901-46B6C28AE592}"/>
              </a:ext>
            </a:extLst>
          </p:cNvPr>
          <p:cNvSpPr/>
          <p:nvPr/>
        </p:nvSpPr>
        <p:spPr>
          <a:xfrm>
            <a:off x="3937000" y="2540000"/>
            <a:ext cx="2413000" cy="889000"/>
          </a:xfrm>
          <a:prstGeom prst="roundRect">
            <a:avLst/>
          </a:prstGeom>
          <a:solidFill>
            <a:srgbClr val="12121A"/>
          </a:solidFill>
          <a:ln w="19050">
            <a:solidFill>
              <a:srgbClr val="FA9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300" b="1">
                <a:solidFill>
                  <a:srgbClr val="FFFFFF"/>
                </a:solidFill>
                <a:latin typeface="Segoe UI" panose="020B0502040204020203" pitchFamily="34" charset="0"/>
              </a:rPr>
              <a:t>API REST</a:t>
            </a:r>
          </a:p>
          <a:p>
            <a:pPr algn="ctr"/>
            <a:r>
              <a:rPr lang="pt-BR" sz="1300" b="1">
                <a:solidFill>
                  <a:srgbClr val="FFFFFF"/>
                </a:solidFill>
                <a:latin typeface="Segoe UI" panose="020B0502040204020203" pitchFamily="34" charset="0"/>
              </a:rPr>
              <a:t>Spring Boot + JWT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F48BF88F-C2D2-D728-3EA7-4E46A986252F}"/>
              </a:ext>
            </a:extLst>
          </p:cNvPr>
          <p:cNvSpPr/>
          <p:nvPr/>
        </p:nvSpPr>
        <p:spPr>
          <a:xfrm>
            <a:off x="7112000" y="2540000"/>
            <a:ext cx="2413000" cy="889000"/>
          </a:xfrm>
          <a:prstGeom prst="roundRect">
            <a:avLst/>
          </a:prstGeom>
          <a:solidFill>
            <a:srgbClr val="12121A"/>
          </a:solidFill>
          <a:ln w="19050">
            <a:solidFill>
              <a:srgbClr val="FA9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300" b="1">
                <a:solidFill>
                  <a:srgbClr val="FFFFFF"/>
                </a:solidFill>
                <a:latin typeface="Segoe UI" panose="020B0502040204020203" pitchFamily="34" charset="0"/>
              </a:rPr>
              <a:t>Camada de Servico</a:t>
            </a:r>
          </a:p>
          <a:p>
            <a:pPr algn="ctr"/>
            <a:r>
              <a:rPr lang="pt-BR" sz="1300" b="1">
                <a:solidFill>
                  <a:srgbClr val="FFFFFF"/>
                </a:solidFill>
                <a:latin typeface="Segoe UI" panose="020B0502040204020203" pitchFamily="34" charset="0"/>
              </a:rPr>
              <a:t>Regras + Autorizacao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CF5DEE37-9DB6-0962-6C9C-7AE58CAD6969}"/>
              </a:ext>
            </a:extLst>
          </p:cNvPr>
          <p:cNvSpPr/>
          <p:nvPr/>
        </p:nvSpPr>
        <p:spPr>
          <a:xfrm>
            <a:off x="10287000" y="2540000"/>
            <a:ext cx="2413000" cy="889000"/>
          </a:xfrm>
          <a:prstGeom prst="roundRect">
            <a:avLst/>
          </a:prstGeom>
          <a:solidFill>
            <a:srgbClr val="12121A"/>
          </a:solidFill>
          <a:ln w="19050">
            <a:solidFill>
              <a:srgbClr val="FA9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300" b="1">
                <a:solidFill>
                  <a:srgbClr val="FFFFFF"/>
                </a:solidFill>
                <a:latin typeface="Segoe UI" panose="020B0502040204020203" pitchFamily="34" charset="0"/>
              </a:rPr>
              <a:t>PostgreSQL</a:t>
            </a:r>
          </a:p>
          <a:p>
            <a:pPr algn="ctr"/>
            <a:r>
              <a:rPr lang="pt-BR" sz="1300" b="1">
                <a:solidFill>
                  <a:srgbClr val="FFFFFF"/>
                </a:solidFill>
                <a:latin typeface="Segoe UI" panose="020B0502040204020203" pitchFamily="34" charset="0"/>
              </a:rPr>
              <a:t>(Supabase)</a:t>
            </a: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73217667-11E3-A6F0-D3B5-2ED9689733B9}"/>
              </a:ext>
            </a:extLst>
          </p:cNvPr>
          <p:cNvCxnSpPr/>
          <p:nvPr/>
        </p:nvCxnSpPr>
        <p:spPr>
          <a:xfrm>
            <a:off x="3175000" y="2984500"/>
            <a:ext cx="762000" cy="0"/>
          </a:xfrm>
          <a:prstGeom prst="straightConnector1">
            <a:avLst/>
          </a:prstGeom>
          <a:ln w="25400">
            <a:solidFill>
              <a:srgbClr val="C7C7D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A5998106-A0DE-DF89-6090-840BEF2BAC04}"/>
              </a:ext>
            </a:extLst>
          </p:cNvPr>
          <p:cNvCxnSpPr/>
          <p:nvPr/>
        </p:nvCxnSpPr>
        <p:spPr>
          <a:xfrm>
            <a:off x="6350000" y="2984500"/>
            <a:ext cx="762000" cy="0"/>
          </a:xfrm>
          <a:prstGeom prst="straightConnector1">
            <a:avLst/>
          </a:prstGeom>
          <a:ln w="25400">
            <a:solidFill>
              <a:srgbClr val="C7C7D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3C2E9D8A-770F-DB93-4A35-4F0A41A55484}"/>
              </a:ext>
            </a:extLst>
          </p:cNvPr>
          <p:cNvCxnSpPr/>
          <p:nvPr/>
        </p:nvCxnSpPr>
        <p:spPr>
          <a:xfrm>
            <a:off x="9525000" y="2984500"/>
            <a:ext cx="762000" cy="0"/>
          </a:xfrm>
          <a:prstGeom prst="straightConnector1">
            <a:avLst/>
          </a:prstGeom>
          <a:ln w="25400">
            <a:solidFill>
              <a:srgbClr val="C7C7D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07BABD1-551C-FC51-B2F9-8E9353064D44}"/>
              </a:ext>
            </a:extLst>
          </p:cNvPr>
          <p:cNvSpPr txBox="1"/>
          <p:nvPr/>
        </p:nvSpPr>
        <p:spPr>
          <a:xfrm>
            <a:off x="762000" y="4064000"/>
            <a:ext cx="1016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BR" sz="1400">
                <a:solidFill>
                  <a:srgbClr val="C7C7D1"/>
                </a:solidFill>
                <a:latin typeface="Segoe UI" panose="020B0502040204020203" pitchFamily="34" charset="0"/>
              </a:rPr>
              <a:t>Requisicoes HTTP autenticadas por token JWT (Bearer), validado a cada chamada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B07E78A-ACD0-CC37-4C51-8BFDDCF8078C}"/>
              </a:ext>
            </a:extLst>
          </p:cNvPr>
          <p:cNvSpPr txBox="1"/>
          <p:nvPr/>
        </p:nvSpPr>
        <p:spPr>
          <a:xfrm>
            <a:off x="762000" y="5080000"/>
            <a:ext cx="10160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BR" sz="1500">
                <a:solidFill>
                  <a:srgbClr val="C7C7D1"/>
                </a:solidFill>
                <a:latin typeface="Segoe UI" panose="020B0502040204020203" pitchFamily="34" charset="0"/>
              </a:rPr>
              <a:t>Frontend hospedado como site estatico + Backend em container Docker</a:t>
            </a:r>
          </a:p>
          <a:p>
            <a:pPr algn="ctr"/>
            <a:r>
              <a:rPr lang="pt-BR" sz="1500">
                <a:solidFill>
                  <a:srgbClr val="C7C7D1"/>
                </a:solidFill>
                <a:latin typeface="Segoe UI" panose="020B0502040204020203" pitchFamily="34" charset="0"/>
              </a:rPr>
              <a:t>    ambos publicados no Render, banco de dados gerenciado pelo Supabase</a:t>
            </a:r>
          </a:p>
        </p:txBody>
      </p:sp>
    </p:spTree>
    <p:extLst>
      <p:ext uri="{BB962C8B-B14F-4D97-AF65-F5344CB8AC3E}">
        <p14:creationId xmlns:p14="http://schemas.microsoft.com/office/powerpoint/2010/main" val="1290944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B7BD9F6-9C39-02C6-79EB-3EBE34D236BB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FA98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2F14CB7-55FC-86E5-2A06-C30C6A86EC2C}"/>
              </a:ext>
            </a:extLst>
          </p:cNvPr>
          <p:cNvSpPr txBox="1"/>
          <p:nvPr/>
        </p:nvSpPr>
        <p:spPr>
          <a:xfrm>
            <a:off x="762000" y="381000"/>
            <a:ext cx="9906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BR" sz="3200" b="1">
                <a:solidFill>
                  <a:srgbClr val="FFFFFF"/>
                </a:solidFill>
                <a:latin typeface="Segoe UI" panose="020B0502040204020203" pitchFamily="34" charset="0"/>
              </a:rPr>
              <a:t>Stack Tecnologica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F082BC2-2AF2-274F-DC9E-B2264C45F1CA}"/>
              </a:ext>
            </a:extLst>
          </p:cNvPr>
          <p:cNvSpPr txBox="1"/>
          <p:nvPr/>
        </p:nvSpPr>
        <p:spPr>
          <a:xfrm>
            <a:off x="10414000" y="6350000"/>
            <a:ext cx="127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pt-BR" sz="1200">
                <a:solidFill>
                  <a:srgbClr val="8A8A96"/>
                </a:solidFill>
                <a:latin typeface="Segoe UI" panose="020B0502040204020203" pitchFamily="34" charset="0"/>
              </a:rPr>
              <a:t>9 / 15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551C503-5B74-BBB8-1E6F-C783F7C06486}"/>
              </a:ext>
            </a:extLst>
          </p:cNvPr>
          <p:cNvSpPr txBox="1"/>
          <p:nvPr/>
        </p:nvSpPr>
        <p:spPr>
          <a:xfrm>
            <a:off x="762000" y="6350000"/>
            <a:ext cx="254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BR" sz="1200">
                <a:solidFill>
                  <a:srgbClr val="8A8A96"/>
                </a:solidFill>
                <a:latin typeface="Segoe UI" panose="020B0502040204020203" pitchFamily="34" charset="0"/>
              </a:rPr>
              <a:t>MusicMakers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E037E50-E308-F886-FF74-AE494EC090C3}"/>
              </a:ext>
            </a:extLst>
          </p:cNvPr>
          <p:cNvSpPr txBox="1"/>
          <p:nvPr/>
        </p:nvSpPr>
        <p:spPr>
          <a:xfrm>
            <a:off x="762000" y="1651000"/>
            <a:ext cx="4572000" cy="21185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 sz="1700">
                <a:solidFill>
                  <a:srgbClr val="C7C7D1"/>
                </a:solidFill>
                <a:latin typeface="Segoe UI" panose="020B0502040204020203" pitchFamily="34" charset="0"/>
              </a:rPr>
              <a:t>Backend: Java 17 + Spring Boot 3.2.6</a:t>
            </a:r>
          </a:p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 sz="1700">
                <a:solidFill>
                  <a:srgbClr val="C7C7D1"/>
                </a:solidFill>
                <a:latin typeface="Segoe UI" panose="020B0502040204020203" pitchFamily="34" charset="0"/>
              </a:rPr>
              <a:t>Seguranca: Spring Security + JWT</a:t>
            </a:r>
          </a:p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 sz="1700">
                <a:solidFill>
                  <a:srgbClr val="C7C7D1"/>
                </a:solidFill>
                <a:latin typeface="Segoe UI" panose="020B0502040204020203" pitchFamily="34" charset="0"/>
              </a:rPr>
              <a:t>Persistencia: Spring Data JPA / Hibernate</a:t>
            </a:r>
          </a:p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 sz="1700">
                <a:solidFill>
                  <a:srgbClr val="C7C7D1"/>
                </a:solidFill>
                <a:latin typeface="Segoe UI" panose="020B0502040204020203" pitchFamily="34" charset="0"/>
              </a:rPr>
              <a:t>Banco de dados: PostgreSQL (Supabase)</a:t>
            </a:r>
          </a:p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 sz="1700">
                <a:solidFill>
                  <a:srgbClr val="C7C7D1"/>
                </a:solidFill>
                <a:latin typeface="Segoe UI" panose="020B0502040204020203" pitchFamily="34" charset="0"/>
              </a:rPr>
              <a:t>Versionamento de schema: Flyway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53DE1DE-23A6-DAAD-C11A-889B79469681}"/>
              </a:ext>
            </a:extLst>
          </p:cNvPr>
          <p:cNvSpPr txBox="1"/>
          <p:nvPr/>
        </p:nvSpPr>
        <p:spPr>
          <a:xfrm>
            <a:off x="6350000" y="1651000"/>
            <a:ext cx="4572000" cy="290335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 sz="1700">
                <a:solidFill>
                  <a:srgbClr val="C7C7D1"/>
                </a:solidFill>
                <a:latin typeface="Segoe UI" panose="020B0502040204020203" pitchFamily="34" charset="0"/>
              </a:rPr>
              <a:t>Frontend: HTML, CSS e JavaScript puro</a:t>
            </a:r>
          </a:p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 sz="1700">
                <a:solidFill>
                  <a:srgbClr val="C7C7D1"/>
                </a:solidFill>
                <a:latin typeface="Segoe UI" panose="020B0502040204020203" pitchFamily="34" charset="0"/>
              </a:rPr>
              <a:t>Sem frameworks de frontend ou build step</a:t>
            </a:r>
          </a:p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 sz="1700">
                <a:solidFill>
                  <a:srgbClr val="C7C7D1"/>
                </a:solidFill>
                <a:latin typeface="Segoe UI" panose="020B0502040204020203" pitchFamily="34" charset="0"/>
              </a:rPr>
              <a:t>Deploy: Docker + Render (backend e frontend)</a:t>
            </a:r>
          </a:p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 sz="1700">
                <a:solidFill>
                  <a:srgbClr val="C7C7D1"/>
                </a:solidFill>
                <a:latin typeface="Segoe UI" panose="020B0502040204020203" pitchFamily="34" charset="0"/>
              </a:rPr>
              <a:t>E-mail transacional: SMTP (JavaMailSender)</a:t>
            </a:r>
          </a:p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 sz="1700">
                <a:solidFill>
                  <a:srgbClr val="C7C7D1"/>
                </a:solidFill>
                <a:latin typeface="Segoe UI" panose="020B0502040204020203" pitchFamily="34" charset="0"/>
              </a:rPr>
              <a:t>Controle de versao: Git / GitHub</a:t>
            </a:r>
          </a:p>
        </p:txBody>
      </p:sp>
    </p:spTree>
    <p:extLst>
      <p:ext uri="{BB962C8B-B14F-4D97-AF65-F5344CB8AC3E}">
        <p14:creationId xmlns:p14="http://schemas.microsoft.com/office/powerpoint/2010/main" val="191654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FC00CEC-4EB1-BB36-462B-7EBC1F5804B6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FA98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A7CE48F-5B90-EB63-F980-FC9949BF8C88}"/>
              </a:ext>
            </a:extLst>
          </p:cNvPr>
          <p:cNvSpPr txBox="1"/>
          <p:nvPr/>
        </p:nvSpPr>
        <p:spPr>
          <a:xfrm>
            <a:off x="762000" y="381000"/>
            <a:ext cx="9906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BR" sz="3200" b="1">
                <a:solidFill>
                  <a:srgbClr val="FFFFFF"/>
                </a:solidFill>
                <a:latin typeface="Segoe UI" panose="020B0502040204020203" pitchFamily="34" charset="0"/>
              </a:rPr>
              <a:t>Seguranca Implementada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2F92030-AE1A-824D-D44D-89C71985113A}"/>
              </a:ext>
            </a:extLst>
          </p:cNvPr>
          <p:cNvSpPr txBox="1"/>
          <p:nvPr/>
        </p:nvSpPr>
        <p:spPr>
          <a:xfrm>
            <a:off x="10414000" y="6350000"/>
            <a:ext cx="127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pt-BR" sz="1200">
                <a:solidFill>
                  <a:srgbClr val="8A8A96"/>
                </a:solidFill>
                <a:latin typeface="Segoe UI" panose="020B0502040204020203" pitchFamily="34" charset="0"/>
              </a:rPr>
              <a:t>10 / 15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1A9533A-CD40-1002-8B97-8778CA03E738}"/>
              </a:ext>
            </a:extLst>
          </p:cNvPr>
          <p:cNvSpPr txBox="1"/>
          <p:nvPr/>
        </p:nvSpPr>
        <p:spPr>
          <a:xfrm>
            <a:off x="762000" y="6350000"/>
            <a:ext cx="254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BR" sz="1200">
                <a:solidFill>
                  <a:srgbClr val="8A8A96"/>
                </a:solidFill>
                <a:latin typeface="Segoe UI" panose="020B0502040204020203" pitchFamily="34" charset="0"/>
              </a:rPr>
              <a:t>MusicMakers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B832433-7067-4FEF-C996-57011032889D}"/>
              </a:ext>
            </a:extLst>
          </p:cNvPr>
          <p:cNvSpPr txBox="1"/>
          <p:nvPr/>
        </p:nvSpPr>
        <p:spPr>
          <a:xfrm>
            <a:off x="762000" y="1651000"/>
            <a:ext cx="9906000" cy="265200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Autenticacao via JWT assinado, com claim de papel (role) do usuario</a:t>
            </a:r>
          </a:p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Senhas armazenadas com hash BCrypt, nunca em texto puro</a:t>
            </a:r>
          </a:p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Autorizacao verificada na camada de servico do backend (nao so na tela)</a:t>
            </a:r>
          </a:p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Protecao contra XSS: escape de dados dinamicos antes de inserir no HTML</a:t>
            </a:r>
          </a:p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Recuperacao de senha com token de uso unico, expiracao de 30 minutos e hash SHA-256</a:t>
            </a:r>
          </a:p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Protecao contra clickjacking (X-Frame-Options) e CORS restrito por origem</a:t>
            </a:r>
          </a:p>
        </p:txBody>
      </p:sp>
    </p:spTree>
    <p:extLst>
      <p:ext uri="{BB962C8B-B14F-4D97-AF65-F5344CB8AC3E}">
        <p14:creationId xmlns:p14="http://schemas.microsoft.com/office/powerpoint/2010/main" val="3653862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C4D43BB-6284-9C00-649E-DBABFE100374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FA98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304FFB4-3384-55D2-4CCD-8A322E6D10CB}"/>
              </a:ext>
            </a:extLst>
          </p:cNvPr>
          <p:cNvSpPr txBox="1"/>
          <p:nvPr/>
        </p:nvSpPr>
        <p:spPr>
          <a:xfrm>
            <a:off x="762000" y="381000"/>
            <a:ext cx="9906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BR" sz="3200" b="1">
                <a:solidFill>
                  <a:srgbClr val="FFFFFF"/>
                </a:solidFill>
                <a:latin typeface="Segoe UI" panose="020B0502040204020203" pitchFamily="34" charset="0"/>
              </a:rPr>
              <a:t>Desafios Enfrentados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BC1ADDA-BB3D-4F85-C80F-918542A2DAF9}"/>
              </a:ext>
            </a:extLst>
          </p:cNvPr>
          <p:cNvSpPr txBox="1"/>
          <p:nvPr/>
        </p:nvSpPr>
        <p:spPr>
          <a:xfrm>
            <a:off x="10414000" y="6350000"/>
            <a:ext cx="127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pt-BR" sz="1200">
                <a:solidFill>
                  <a:srgbClr val="8A8A96"/>
                </a:solidFill>
                <a:latin typeface="Segoe UI" panose="020B0502040204020203" pitchFamily="34" charset="0"/>
              </a:rPr>
              <a:t>11 / 15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979C421-6531-61A9-DD99-A7641C3F132E}"/>
              </a:ext>
            </a:extLst>
          </p:cNvPr>
          <p:cNvSpPr txBox="1"/>
          <p:nvPr/>
        </p:nvSpPr>
        <p:spPr>
          <a:xfrm>
            <a:off x="762000" y="6350000"/>
            <a:ext cx="254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BR" sz="1200">
                <a:solidFill>
                  <a:srgbClr val="8A8A96"/>
                </a:solidFill>
                <a:latin typeface="Segoe UI" panose="020B0502040204020203" pitchFamily="34" charset="0"/>
              </a:rPr>
              <a:t>MusicMakers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D5A22ED-3C4B-9644-AEC2-13A1E6B1DA08}"/>
              </a:ext>
            </a:extLst>
          </p:cNvPr>
          <p:cNvSpPr txBox="1"/>
          <p:nvPr/>
        </p:nvSpPr>
        <p:spPr>
          <a:xfrm>
            <a:off x="762000" y="1651000"/>
            <a:ext cx="9906000" cy="274947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Corrigir bugs de persistencia de dados no perfil do musico (campos nao eram salvos corretamente)</a:t>
            </a:r>
          </a:p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Fechar brechas de autorizacao onde um usuario podia acessar dados de outro (IDOR)</a:t>
            </a:r>
          </a:p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Auditoria completa de seguranca no frontend: XSS, autorizacao baseada so em localStorage, vazamento de dados</a:t>
            </a:r>
          </a:p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Implementar o fluxo real de recuperacao de senha por e-mail, do zero, com token seguro</a:t>
            </a:r>
          </a:p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Preparar e migrar o projeto para rodar em producao na nuvem (Render + Supabase)</a:t>
            </a:r>
          </a:p>
        </p:txBody>
      </p:sp>
    </p:spTree>
    <p:extLst>
      <p:ext uri="{BB962C8B-B14F-4D97-AF65-F5344CB8AC3E}">
        <p14:creationId xmlns:p14="http://schemas.microsoft.com/office/powerpoint/2010/main" val="3464667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790A018-7B70-00DB-D968-10BB1334DBD5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FA98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010E23D-4C9C-D2C4-F4BD-2F0BD8B6BD29}"/>
              </a:ext>
            </a:extLst>
          </p:cNvPr>
          <p:cNvSpPr txBox="1"/>
          <p:nvPr/>
        </p:nvSpPr>
        <p:spPr>
          <a:xfrm>
            <a:off x="762000" y="381000"/>
            <a:ext cx="9906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BR" sz="3200" b="1">
                <a:solidFill>
                  <a:srgbClr val="FFFFFF"/>
                </a:solidFill>
                <a:latin typeface="Segoe UI" panose="020B0502040204020203" pitchFamily="34" charset="0"/>
              </a:rPr>
              <a:t>Resultados Alcancados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F1CD3CD-3252-B869-FC55-81514007250C}"/>
              </a:ext>
            </a:extLst>
          </p:cNvPr>
          <p:cNvSpPr txBox="1"/>
          <p:nvPr/>
        </p:nvSpPr>
        <p:spPr>
          <a:xfrm>
            <a:off x="10414000" y="6350000"/>
            <a:ext cx="127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pt-BR" sz="1200">
                <a:solidFill>
                  <a:srgbClr val="8A8A96"/>
                </a:solidFill>
                <a:latin typeface="Segoe UI" panose="020B0502040204020203" pitchFamily="34" charset="0"/>
              </a:rPr>
              <a:t>12 / 15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C4C2B5E-A51F-7937-A2E2-52E52CCB0C92}"/>
              </a:ext>
            </a:extLst>
          </p:cNvPr>
          <p:cNvSpPr txBox="1"/>
          <p:nvPr/>
        </p:nvSpPr>
        <p:spPr>
          <a:xfrm>
            <a:off x="762000" y="6350000"/>
            <a:ext cx="254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BR" sz="1200">
                <a:solidFill>
                  <a:srgbClr val="8A8A96"/>
                </a:solidFill>
                <a:latin typeface="Segoe UI" panose="020B0502040204020203" pitchFamily="34" charset="0"/>
              </a:rPr>
              <a:t>MusicMakers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DE70462-6D02-06F4-8387-DAD491408A5C}"/>
              </a:ext>
            </a:extLst>
          </p:cNvPr>
          <p:cNvSpPr txBox="1"/>
          <p:nvPr/>
        </p:nvSpPr>
        <p:spPr>
          <a:xfrm>
            <a:off x="762000" y="1651000"/>
            <a:ext cx="9906000" cy="247247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Plataforma funcional em producao, acessivel publicamente pela internet</a:t>
            </a:r>
          </a:p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Fluxo completo de cadastro, login, perfil, banda, agenda, financeiro e vagas funcionando de ponta a ponta</a:t>
            </a:r>
          </a:p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Sistema de convites e candidaturas conectando musicos e bandas de forma organizada</a:t>
            </a:r>
          </a:p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Base de codigo revisada e corrigida por uma auditoria de seguranca e qualidade</a:t>
            </a:r>
          </a:p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Recuperacao de senha por e-mail funcionando de forma real e segura</a:t>
            </a:r>
          </a:p>
        </p:txBody>
      </p:sp>
    </p:spTree>
    <p:extLst>
      <p:ext uri="{BB962C8B-B14F-4D97-AF65-F5344CB8AC3E}">
        <p14:creationId xmlns:p14="http://schemas.microsoft.com/office/powerpoint/2010/main" val="1798231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715208A-E5B8-F27A-C969-98E25D90ADCB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FA98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8B356B0-8C95-D6B1-8F3D-DFE8AC963409}"/>
              </a:ext>
            </a:extLst>
          </p:cNvPr>
          <p:cNvSpPr txBox="1"/>
          <p:nvPr/>
        </p:nvSpPr>
        <p:spPr>
          <a:xfrm>
            <a:off x="762000" y="381000"/>
            <a:ext cx="9906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BR" sz="3200" b="1">
                <a:solidFill>
                  <a:srgbClr val="FFFFFF"/>
                </a:solidFill>
                <a:latin typeface="Segoe UI" panose="020B0502040204020203" pitchFamily="34" charset="0"/>
              </a:rPr>
              <a:t>Trabalhos Futuros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4A8AED1-5CF5-8F0B-0B3B-982E918E2579}"/>
              </a:ext>
            </a:extLst>
          </p:cNvPr>
          <p:cNvSpPr txBox="1"/>
          <p:nvPr/>
        </p:nvSpPr>
        <p:spPr>
          <a:xfrm>
            <a:off x="10414000" y="6350000"/>
            <a:ext cx="127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pt-BR" sz="1200">
                <a:solidFill>
                  <a:srgbClr val="8A8A96"/>
                </a:solidFill>
                <a:latin typeface="Segoe UI" panose="020B0502040204020203" pitchFamily="34" charset="0"/>
              </a:rPr>
              <a:t>13 / 15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037EBC6-F0C6-AFEA-083D-A06EE28F9491}"/>
              </a:ext>
            </a:extLst>
          </p:cNvPr>
          <p:cNvSpPr txBox="1"/>
          <p:nvPr/>
        </p:nvSpPr>
        <p:spPr>
          <a:xfrm>
            <a:off x="762000" y="6350000"/>
            <a:ext cx="254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BR" sz="1200">
                <a:solidFill>
                  <a:srgbClr val="8A8A96"/>
                </a:solidFill>
                <a:latin typeface="Segoe UI" panose="020B0502040204020203" pitchFamily="34" charset="0"/>
              </a:rPr>
              <a:t>MusicMakers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4E9AECA-A181-03D5-036A-9462279BE01B}"/>
              </a:ext>
            </a:extLst>
          </p:cNvPr>
          <p:cNvSpPr txBox="1"/>
          <p:nvPr/>
        </p:nvSpPr>
        <p:spPr>
          <a:xfrm>
            <a:off x="762000" y="1651000"/>
            <a:ext cx="9906000" cy="219547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Permissoes mais granulares por modulo (financeiro, repertorio) direto na API</a:t>
            </a:r>
          </a:p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Notificacoes em tempo real (WebSocket) para convites e candidaturas</a:t>
            </a:r>
          </a:p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Aplicativo mobile ou PWA para acesso offline</a:t>
            </a:r>
          </a:p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Testes automatizados (unitarios e de integracao)</a:t>
            </a:r>
          </a:p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Metricas de uso e paineis de analytics para os gestores de banda</a:t>
            </a:r>
          </a:p>
        </p:txBody>
      </p:sp>
    </p:spTree>
    <p:extLst>
      <p:ext uri="{BB962C8B-B14F-4D97-AF65-F5344CB8AC3E}">
        <p14:creationId xmlns:p14="http://schemas.microsoft.com/office/powerpoint/2010/main" val="3060921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557787D-C516-3496-C5E4-F0348F2C79BC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FA98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040890C-E032-983D-B71A-B39C337EADEA}"/>
              </a:ext>
            </a:extLst>
          </p:cNvPr>
          <p:cNvSpPr txBox="1"/>
          <p:nvPr/>
        </p:nvSpPr>
        <p:spPr>
          <a:xfrm>
            <a:off x="762000" y="381000"/>
            <a:ext cx="9906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BR" sz="3200" b="1">
                <a:solidFill>
                  <a:srgbClr val="FFFFFF"/>
                </a:solidFill>
                <a:latin typeface="Segoe UI" panose="020B0502040204020203" pitchFamily="34" charset="0"/>
              </a:rPr>
              <a:t>Conclusao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6FE3362-BA95-0174-60FB-CFAFC1CFEF2B}"/>
              </a:ext>
            </a:extLst>
          </p:cNvPr>
          <p:cNvSpPr txBox="1"/>
          <p:nvPr/>
        </p:nvSpPr>
        <p:spPr>
          <a:xfrm>
            <a:off x="10414000" y="6350000"/>
            <a:ext cx="127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pt-BR" sz="1200">
                <a:solidFill>
                  <a:srgbClr val="8A8A96"/>
                </a:solidFill>
                <a:latin typeface="Segoe UI" panose="020B0502040204020203" pitchFamily="34" charset="0"/>
              </a:rPr>
              <a:t>14 / 15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7C9640A-8403-150F-2953-26A72A53FE37}"/>
              </a:ext>
            </a:extLst>
          </p:cNvPr>
          <p:cNvSpPr txBox="1"/>
          <p:nvPr/>
        </p:nvSpPr>
        <p:spPr>
          <a:xfrm>
            <a:off x="762000" y="6350000"/>
            <a:ext cx="254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BR" sz="1200">
                <a:solidFill>
                  <a:srgbClr val="8A8A96"/>
                </a:solidFill>
                <a:latin typeface="Segoe UI" panose="020B0502040204020203" pitchFamily="34" charset="0"/>
              </a:rPr>
              <a:t>MusicMakers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69116EB-60C6-38DB-5425-94B61BB95DCD}"/>
              </a:ext>
            </a:extLst>
          </p:cNvPr>
          <p:cNvSpPr txBox="1"/>
          <p:nvPr/>
        </p:nvSpPr>
        <p:spPr>
          <a:xfrm>
            <a:off x="762000" y="1651000"/>
            <a:ext cx="9906000" cy="229293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O MusicMakers resolve um problema real de conexao entre musicos e bandas</a:t>
            </a:r>
          </a:p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O projeto permitiu aplicar na pratica conceitos de backend, frontend, banco de dados, seguranca e deploy em nuvem</a:t>
            </a:r>
          </a:p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A etapa de auditoria e correcao de bugs foi tao importante quanto a construcao inicial das funcionalidades</a:t>
            </a:r>
          </a:p>
          <a:p>
            <a:pPr marL="342900" indent="-342900">
              <a:spcAft>
                <a:spcPts val="1400"/>
              </a:spcAft>
              <a:buClr>
                <a:srgbClr val="FA9848"/>
              </a:buClr>
              <a:buFont typeface="+mj-lt"/>
              <a:buChar char="•"/>
            </a:pPr>
            <a:r>
              <a:rPr lang="pt-BR">
                <a:solidFill>
                  <a:srgbClr val="C7C7D1"/>
                </a:solidFill>
                <a:latin typeface="Segoe UI" panose="020B0502040204020203" pitchFamily="34" charset="0"/>
              </a:rPr>
              <a:t>O resultado e uma aplicacao real, publicada e testada, pronta para uso</a:t>
            </a:r>
          </a:p>
        </p:txBody>
      </p:sp>
    </p:spTree>
    <p:extLst>
      <p:ext uri="{BB962C8B-B14F-4D97-AF65-F5344CB8AC3E}">
        <p14:creationId xmlns:p14="http://schemas.microsoft.com/office/powerpoint/2010/main" val="41343140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52DFCF6-200C-66DF-246C-0BE8398FCF99}"/>
              </a:ext>
            </a:extLst>
          </p:cNvPr>
          <p:cNvSpPr/>
          <p:nvPr/>
        </p:nvSpPr>
        <p:spPr>
          <a:xfrm>
            <a:off x="0" y="3390900"/>
            <a:ext cx="12192000" cy="76200"/>
          </a:xfrm>
          <a:prstGeom prst="rect">
            <a:avLst/>
          </a:prstGeom>
          <a:solidFill>
            <a:srgbClr val="FA98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685F5DA-389C-2B96-42C9-78274000C0CD}"/>
              </a:ext>
            </a:extLst>
          </p:cNvPr>
          <p:cNvSpPr txBox="1"/>
          <p:nvPr/>
        </p:nvSpPr>
        <p:spPr>
          <a:xfrm>
            <a:off x="0" y="2286000"/>
            <a:ext cx="12192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BR" sz="4800" b="1">
                <a:solidFill>
                  <a:srgbClr val="FFFFFF"/>
                </a:solidFill>
                <a:latin typeface="Segoe UI" panose="020B0502040204020203" pitchFamily="34" charset="0"/>
              </a:rPr>
              <a:t>Obrigado!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425D49B-C171-5B15-269A-527E8705318D}"/>
              </a:ext>
            </a:extLst>
          </p:cNvPr>
          <p:cNvSpPr txBox="1"/>
          <p:nvPr/>
        </p:nvSpPr>
        <p:spPr>
          <a:xfrm>
            <a:off x="0" y="3302000"/>
            <a:ext cx="12192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BR" sz="2200" b="1">
                <a:solidFill>
                  <a:srgbClr val="FA9848"/>
                </a:solidFill>
                <a:latin typeface="Segoe UI" panose="020B0502040204020203" pitchFamily="34" charset="0"/>
              </a:rPr>
              <a:t>Perguntas?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4FCB463-577D-1379-1290-27F7E80FB978}"/>
              </a:ext>
            </a:extLst>
          </p:cNvPr>
          <p:cNvSpPr txBox="1"/>
          <p:nvPr/>
        </p:nvSpPr>
        <p:spPr>
          <a:xfrm>
            <a:off x="0" y="4191000"/>
            <a:ext cx="1219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BR" sz="1400">
                <a:solidFill>
                  <a:srgbClr val="C7C7D1"/>
                </a:solidFill>
                <a:latin typeface="Segoe UI" panose="020B0502040204020203" pitchFamily="34" charset="0"/>
              </a:rPr>
              <a:t>Vicente Brenner - Jean Carlo - Murilo Silva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FAA35A9-9A0E-D221-A263-D64AD7F66CD5}"/>
              </a:ext>
            </a:extLst>
          </p:cNvPr>
          <p:cNvSpPr txBox="1"/>
          <p:nvPr/>
        </p:nvSpPr>
        <p:spPr>
          <a:xfrm>
            <a:off x="0" y="4572000"/>
            <a:ext cx="1219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BR" sz="1400">
                <a:solidFill>
                  <a:srgbClr val="C7C7D1"/>
                </a:solidFill>
                <a:latin typeface="Segoe UI" panose="020B0502040204020203" pitchFamily="34" charset="0"/>
              </a:rPr>
              <a:t>Orientador: Prof. Isaias</a:t>
            </a:r>
          </a:p>
        </p:txBody>
      </p:sp>
    </p:spTree>
    <p:extLst>
      <p:ext uri="{BB962C8B-B14F-4D97-AF65-F5344CB8AC3E}">
        <p14:creationId xmlns:p14="http://schemas.microsoft.com/office/powerpoint/2010/main" val="41139566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949</Words>
  <Application>Microsoft Office PowerPoint</Application>
  <PresentationFormat>Personalizar</PresentationFormat>
  <Paragraphs>125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Segoe UI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Vicente Brenner</dc:creator>
  <cp:lastModifiedBy>Vicente Brenner</cp:lastModifiedBy>
  <cp:revision>1</cp:revision>
  <dcterms:created xsi:type="dcterms:W3CDTF">2026-07-04T03:44:31Z</dcterms:created>
  <dcterms:modified xsi:type="dcterms:W3CDTF">2026-07-04T03:44:31Z</dcterms:modified>
</cp:coreProperties>
</file>